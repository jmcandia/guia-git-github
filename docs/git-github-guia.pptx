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D364"/>
    <a:srgbClr val="E3B341"/>
    <a:srgbClr val="F781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62" y="1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1266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nventionalcommits.org/es/v1.0.0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&amp;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desde cero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¿Qué es Git?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640080" y="1216152"/>
            <a:ext cx="475488" cy="475488"/>
          </a:xfrm>
          <a:prstGeom prst="ellipse">
            <a:avLst/>
          </a:prstGeom>
          <a:solidFill>
            <a:srgbClr val="79C0FF">
              <a:alpha val="80000"/>
            </a:srgbClr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640080" y="1216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07008" y="121615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Historial completo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07008" y="1563624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cambio queda registrado. Puedes volver a cualquier versión anterior del proyecto en cualquier momento.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5156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4983480" y="1216152"/>
            <a:ext cx="475488" cy="475488"/>
          </a:xfrm>
          <a:prstGeom prst="ellipse">
            <a:avLst/>
          </a:prstGeom>
          <a:solidFill>
            <a:srgbClr val="D2A8FF">
              <a:alpha val="80000"/>
            </a:srgbClr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4983480" y="1216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50408" y="121615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Trabajo en equipo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50408" y="1563624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 personas trabajan en el mismo proyecto simultáneamente sin pisarse los cambios.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640080" y="3090672"/>
            <a:ext cx="475488" cy="475488"/>
          </a:xfrm>
          <a:prstGeom prst="ellipse">
            <a:avLst/>
          </a:prstGeom>
          <a:solidFill>
            <a:srgbClr val="56D364">
              <a:alpha val="80000"/>
            </a:srgbClr>
          </a:solidFill>
          <a:ln w="12700">
            <a:solidFill>
              <a:srgbClr val="56D36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640080" y="3090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07008" y="309067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Ramas paralelas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07008" y="3438144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 nuevas funcionalidades de forma aislada, sin tocar el código que ya funciona.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92608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4983480" y="3090672"/>
            <a:ext cx="475488" cy="475488"/>
          </a:xfrm>
          <a:prstGeom prst="ellipse">
            <a:avLst/>
          </a:prstGeom>
          <a:solidFill>
            <a:srgbClr val="E3B341">
              <a:alpha val="80000"/>
            </a:srgbClr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4983480" y="3090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50408" y="309067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Distribuido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50408" y="3438144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desarrollador tiene una copia completa del repositorio. No hay un único punto de falla.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Creado por Linus Torvalds en 2005 · Usado por prácticamente toda la industria del software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 vs  GitHub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79476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1851660" y="1335024"/>
            <a:ext cx="1005840" cy="1005840"/>
          </a:xfrm>
          <a:prstGeom prst="ellipse">
            <a:avLst/>
          </a:prstGeom>
          <a:solidFill>
            <a:srgbClr val="56D364">
              <a:alpha val="80000"/>
            </a:srgbClr>
          </a:solidFill>
          <a:ln w="12700">
            <a:solidFill>
              <a:srgbClr val="56D364"/>
            </a:solidFill>
            <a:prstDash val="solid"/>
          </a:ln>
        </p:spPr>
        <p:txBody>
          <a:bodyPr/>
          <a:lstStyle/>
          <a:p>
            <a:endParaRPr lang="es-CL" dirty="0">
              <a:latin typeface="Consolas" panose="020B0609020204030204" pitchFamily="49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851660" y="133045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herramienta que corre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tu computador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063240"/>
            <a:ext cx="3246120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Funciona sin internet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54787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Guarda historial local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895344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Gestiona ramas y commits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0" y="2468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92040" y="1051560"/>
            <a:ext cx="379476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6286500" y="1271016"/>
            <a:ext cx="1005840" cy="1005840"/>
          </a:xfrm>
          <a:prstGeom prst="ellipse">
            <a:avLst/>
          </a:prstGeom>
          <a:solidFill>
            <a:srgbClr val="79C0FF">
              <a:alpha val="80000"/>
            </a:srgbClr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6286500" y="1271016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GitHub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074920" y="237744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en la nube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subes tu código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66360" y="3063240"/>
            <a:ext cx="3246120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5166360" y="32004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Repositorios remotos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66360" y="354787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Pull Requests y revisión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66360" y="3895344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Issues, Actions y Pages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Alternativas a GitHub: GitLab · Bitbucket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 tres zonas de Git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05326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78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1248483" y="149961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4340" y="1769364"/>
            <a:ext cx="20532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Working Directory</a:t>
            </a:r>
            <a:endParaRPr lang="en-US" sz="1300" dirty="0">
              <a:solidFill>
                <a:srgbClr val="F78166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2542032"/>
            <a:ext cx="203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carpeta de trabajo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202996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47010" y="1069848"/>
            <a:ext cx="20585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3B34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4270248" y="14813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8350" y="1770721"/>
            <a:ext cx="20585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Staging Area</a:t>
            </a:r>
            <a:endParaRPr lang="en-US" sz="1300" dirty="0">
              <a:solidFill>
                <a:srgbClr val="E3B34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3589689" y="2542104"/>
            <a:ext cx="20585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de preparación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39212" y="1069848"/>
            <a:ext cx="205326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56D3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7168896" y="14813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39212" y="1770721"/>
            <a:ext cx="20532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</a:t>
            </a:r>
            <a:endParaRPr lang="en-US" sz="1300" dirty="0">
              <a:solidFill>
                <a:srgbClr val="56D364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6639212" y="2542032"/>
            <a:ext cx="20475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permanente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566160"/>
            <a:ext cx="8229600" cy="13258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594360" y="3657600"/>
            <a:ext cx="79552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2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index.html     </a:t>
            </a: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mueve a Staging Area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200" b="1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-m "feat: agrega navbar"</a:t>
            </a: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guarda en el repo</a:t>
            </a:r>
            <a:endParaRPr lang="en-US" sz="1200" dirty="0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6C7E581A-DDFF-D7FF-FC2D-E0AF482154E4}"/>
              </a:ext>
            </a:extLst>
          </p:cNvPr>
          <p:cNvSpPr/>
          <p:nvPr/>
        </p:nvSpPr>
        <p:spPr>
          <a:xfrm>
            <a:off x="2619702" y="1894424"/>
            <a:ext cx="880260" cy="663387"/>
          </a:xfrm>
          <a:prstGeom prst="rightArrow">
            <a:avLst/>
          </a:prstGeom>
          <a:solidFill>
            <a:srgbClr val="E3B341"/>
          </a:solidFill>
          <a:ln>
            <a:solidFill>
              <a:srgbClr val="E3B3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latin typeface="Consolas" panose="020B0609020204030204" pitchFamily="49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735124" y="2125533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ED91F078-609B-CD8E-6C42-577614CBFE25}"/>
              </a:ext>
            </a:extLst>
          </p:cNvPr>
          <p:cNvSpPr/>
          <p:nvPr/>
        </p:nvSpPr>
        <p:spPr>
          <a:xfrm>
            <a:off x="5706000" y="1844578"/>
            <a:ext cx="856800" cy="663387"/>
          </a:xfrm>
          <a:prstGeom prst="rightArrow">
            <a:avLst/>
          </a:prstGeom>
          <a:solidFill>
            <a:srgbClr val="56D364"/>
          </a:solidFill>
          <a:ln>
            <a:solidFill>
              <a:srgbClr val="56D3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latin typeface="Consolas" panose="020B0609020204030204" pitchFamily="49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801254" y="2057400"/>
            <a:ext cx="5731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endParaRPr lang="en-U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Conceptos clave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9C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37160" cy="1783080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731520" y="12161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Repositorio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618488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 del proyecto con historial completo. La carpeta .git guarda todo.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6D3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137160" cy="1783080"/>
          </a:xfrm>
          <a:prstGeom prst="rect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731520" y="318211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3584448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"foto" del proyecto en un momento dado. Tiene hash, autor, fecha y mensaje.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05156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A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4663440" y="1051560"/>
            <a:ext cx="137160" cy="178308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4937760" y="12161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1618488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paralela de desarrollo. Permite trabajar de forma aislada sin afectar main.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B34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4663440" y="3017520"/>
            <a:ext cx="137160" cy="178308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4937760" y="318211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3584448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Fusionar dos ramas. Integra los cambios de una rama en otra.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ciclo básico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94360" cy="841248"/>
          </a:xfrm>
          <a:prstGeom prst="rect">
            <a:avLst/>
          </a:prstGeom>
          <a:solidFill>
            <a:srgbClr val="8B949E">
              <a:alpha val="20000"/>
            </a:srgbClr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594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70432" y="11430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70432" y="1490472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qué archivos cambiaron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901952"/>
            <a:ext cx="2743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594360" cy="841248"/>
          </a:xfrm>
          <a:prstGeom prst="rect">
            <a:avLst/>
          </a:prstGeom>
          <a:solidFill>
            <a:srgbClr val="E3B341">
              <a:alpha val="20000"/>
            </a:srgbClr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457200" y="2011680"/>
            <a:ext cx="594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70432" y="2103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70432" y="2450592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cambios al Staging Area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862072"/>
            <a:ext cx="2743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594360" cy="841248"/>
          </a:xfrm>
          <a:prstGeom prst="rect">
            <a:avLst/>
          </a:prstGeom>
          <a:solidFill>
            <a:srgbClr val="56D364">
              <a:alpha val="20000"/>
            </a:srgbClr>
          </a:solidFill>
          <a:ln w="12700">
            <a:solidFill>
              <a:srgbClr val="56D36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457200" y="2971800"/>
            <a:ext cx="594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70432" y="30632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"..."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70432" y="3410712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un commit con mensaje descriptivo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3822192"/>
            <a:ext cx="2743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822960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594360" cy="841248"/>
          </a:xfrm>
          <a:prstGeom prst="rect">
            <a:avLst/>
          </a:prstGeom>
          <a:solidFill>
            <a:srgbClr val="79C0FF">
              <a:alpha val="20000"/>
            </a:srgbClr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457200" y="3931920"/>
            <a:ext cx="594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70432" y="40233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main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70432" y="4370832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los commits a GitHub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Trabajando con ramas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79C0FF">
              <a:alpha val="20000"/>
            </a:srgbClr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18488"/>
            <a:ext cx="3657600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777240" y="162763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nombre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105156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4983480" y="1234440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56D364">
              <a:alpha val="20000"/>
            </a:srgbClr>
          </a:solidFill>
          <a:ln w="12700">
            <a:solidFill>
              <a:srgbClr val="56D36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4983480" y="1234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CREAR Y CAMBIAR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83480" y="1618488"/>
            <a:ext cx="3657600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5120640" y="162763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-c nombre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640080" y="3063240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D2A8FF">
              <a:alpha val="20000"/>
            </a:srgbClr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640080" y="3063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FUSIONAR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3447288"/>
            <a:ext cx="3657600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777240" y="345643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nombre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288036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4983480" y="3063240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F78166">
              <a:alpha val="20000"/>
            </a:srgbClr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4983480" y="3063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ELIMINAR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83480" y="3447288"/>
            <a:ext cx="3657600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5120640" y="345643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-d nombre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ramas son baratas en Git. Crea una por cada feature, bug fix o experimento.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GitHub: flujo de trabajo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02920" cy="713232"/>
          </a:xfrm>
          <a:prstGeom prst="rect">
            <a:avLst/>
          </a:prstGeom>
          <a:solidFill>
            <a:srgbClr val="79C0FF">
              <a:alpha val="25000"/>
            </a:srgbClr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07899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Crear repositorio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3716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→ nombre → público/privado → Create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10512"/>
            <a:ext cx="82296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502920" cy="713232"/>
          </a:xfrm>
          <a:prstGeom prst="rect">
            <a:avLst/>
          </a:prstGeom>
          <a:solidFill>
            <a:srgbClr val="79C0FF">
              <a:alpha val="25000"/>
            </a:srgbClr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457200" y="1810512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188366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Conectar local con remoto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1762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&lt;url&gt;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15184"/>
            <a:ext cx="82296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457200" y="2615184"/>
            <a:ext cx="502920" cy="713232"/>
          </a:xfrm>
          <a:prstGeom prst="rect">
            <a:avLst/>
          </a:prstGeom>
          <a:solidFill>
            <a:srgbClr val="79C0FF">
              <a:alpha val="25000"/>
            </a:srgbClr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457200" y="2615184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268833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Subir código (push)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98094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main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419856"/>
            <a:ext cx="82296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457200" y="3419856"/>
            <a:ext cx="502920" cy="713232"/>
          </a:xfrm>
          <a:prstGeom prst="rect">
            <a:avLst/>
          </a:prstGeom>
          <a:solidFill>
            <a:srgbClr val="79C0FF">
              <a:alpha val="25000"/>
            </a:srgbClr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457200" y="3419856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349300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Abrir Pull Request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7856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 &amp; pull request → descripción → revisores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24528"/>
            <a:ext cx="82296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457200" y="4224528"/>
            <a:ext cx="502920" cy="713232"/>
          </a:xfrm>
          <a:prstGeom prst="rect">
            <a:avLst/>
          </a:prstGeom>
          <a:solidFill>
            <a:srgbClr val="79C0FF">
              <a:alpha val="25000"/>
            </a:srgbClr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457200" y="4224528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97280" y="42976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Revisión y merge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459028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review → Approve → Merge pull request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Conventional Commits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</a:t>
            </a:r>
            <a:r>
              <a:rPr lang="en-US" sz="2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alcance</a:t>
            </a:r>
            <a:r>
              <a:rPr lang="en-US" sz="2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 </a:t>
            </a:r>
            <a:r>
              <a:rPr lang="en-US" sz="220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descripción corta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2697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109728" cy="804672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4597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funcionalidad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55848" y="2057400"/>
            <a:ext cx="2697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3355848" y="2057400"/>
            <a:ext cx="109728" cy="804672"/>
          </a:xfrm>
          <a:prstGeom prst="rect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3584448" y="21488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84448" y="24597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de bug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54496" y="2057400"/>
            <a:ext cx="2697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6254496" y="2057400"/>
            <a:ext cx="109728" cy="804672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6483096" y="21488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83096" y="24597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044952"/>
            <a:ext cx="2697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457200" y="3044952"/>
            <a:ext cx="109728" cy="80467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685800" y="31363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refactor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34472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Reestructurar código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55848" y="3044952"/>
            <a:ext cx="2697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3355848" y="3044952"/>
            <a:ext cx="109728" cy="80467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3584448" y="31363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84448" y="34472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tests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54496" y="3044952"/>
            <a:ext cx="2697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6254496" y="3044952"/>
            <a:ext cx="109728" cy="80467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6483096" y="31363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chore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83096" y="34472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Mantenimiento/build</a:t>
            </a:r>
            <a:endParaRPr lang="en-US" sz="1000" dirty="0"/>
          </a:p>
        </p:txBody>
      </p:sp>
      <p:sp>
        <p:nvSpPr>
          <p:cNvPr id="30" name="Text 28">
            <a:hlinkClick r:id="rId3"/>
          </p:cNvPr>
          <p:cNvSpPr/>
          <p:nvPr/>
        </p:nvSpPr>
        <p:spPr>
          <a:xfrm>
            <a:off x="457200" y="477316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u="sng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conventionalcommits.org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Branching Strategies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26187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organizar las ramas del equipo?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2697480" cy="2377440"/>
          </a:xfrm>
          <a:prstGeom prst="rect">
            <a:avLst/>
          </a:prstGeom>
          <a:solidFill>
            <a:srgbClr val="161B22"/>
          </a:solidFill>
          <a:ln w="25400">
            <a:solidFill>
              <a:srgbClr val="D2A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697480" cy="109728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Flow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267004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Estructurado · Ciclos largos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55848" y="1920240"/>
            <a:ext cx="2697480" cy="2377440"/>
          </a:xfrm>
          <a:prstGeom prst="rect">
            <a:avLst/>
          </a:prstGeom>
          <a:solidFill>
            <a:srgbClr val="161B22"/>
          </a:solidFill>
          <a:ln w="25400">
            <a:solidFill>
              <a:srgbClr val="79C0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3355848" y="1920240"/>
            <a:ext cx="2697480" cy="109728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3355848" y="2148840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Flow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93008" y="267004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· Deploy continuo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54496" y="1920240"/>
            <a:ext cx="2697480" cy="2377440"/>
          </a:xfrm>
          <a:prstGeom prst="rect">
            <a:avLst/>
          </a:prstGeom>
          <a:solidFill>
            <a:srgbClr val="161B22"/>
          </a:solidFill>
          <a:ln w="25400">
            <a:solidFill>
              <a:srgbClr val="56D3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254496" y="1920240"/>
            <a:ext cx="2697480" cy="109728"/>
          </a:xfrm>
          <a:prstGeom prst="rect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6254496" y="2148840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Trunk-Based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91656" y="267004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· Alta disciplina técnica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una respuesta única — la mejor estrategia depende del proyecto y del equipo.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9FBED3CA-D204-687F-F767-0DE287D9CDF1}"/>
              </a:ext>
            </a:extLst>
          </p:cNvPr>
          <p:cNvGrpSpPr/>
          <p:nvPr/>
        </p:nvGrpSpPr>
        <p:grpSpPr>
          <a:xfrm>
            <a:off x="457200" y="1051560"/>
            <a:ext cx="8229600" cy="676656"/>
            <a:chOff x="457200" y="1051560"/>
            <a:chExt cx="8229600" cy="676656"/>
          </a:xfrm>
        </p:grpSpPr>
        <p:sp>
          <p:nvSpPr>
            <p:cNvPr id="4" name="Shape 2"/>
            <p:cNvSpPr/>
            <p:nvPr/>
          </p:nvSpPr>
          <p:spPr>
            <a:xfrm>
              <a:off x="457200" y="1051560"/>
              <a:ext cx="8229600" cy="67665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7DE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Shape 3"/>
            <p:cNvSpPr/>
            <p:nvPr/>
          </p:nvSpPr>
          <p:spPr>
            <a:xfrm>
              <a:off x="457200" y="1051560"/>
              <a:ext cx="109728" cy="676656"/>
            </a:xfrm>
            <a:prstGeom prst="rect">
              <a:avLst/>
            </a:prstGeom>
            <a:solidFill>
              <a:srgbClr val="79C0FF"/>
            </a:solidFill>
            <a:ln w="12700">
              <a:solidFill>
                <a:srgbClr val="79C0FF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 4"/>
            <p:cNvSpPr/>
            <p:nvPr/>
          </p:nvSpPr>
          <p:spPr>
            <a:xfrm>
              <a:off x="685800" y="1124712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79C0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main</a:t>
              </a:r>
              <a:endParaRPr lang="en-US" sz="13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685800" y="1399032"/>
              <a:ext cx="77724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57606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Siempre en producción. Cada merge se etiqueta con versión.</a:t>
              </a:r>
              <a:endParaRPr lang="en-US" sz="1100" dirty="0"/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49A9AB46-F446-39DC-D21D-5B3146EBCC9E}"/>
              </a:ext>
            </a:extLst>
          </p:cNvPr>
          <p:cNvGrpSpPr/>
          <p:nvPr/>
        </p:nvGrpSpPr>
        <p:grpSpPr>
          <a:xfrm>
            <a:off x="457200" y="1807488"/>
            <a:ext cx="8229600" cy="676656"/>
            <a:chOff x="457200" y="1847088"/>
            <a:chExt cx="8229600" cy="676656"/>
          </a:xfrm>
        </p:grpSpPr>
        <p:sp>
          <p:nvSpPr>
            <p:cNvPr id="8" name="Shape 6"/>
            <p:cNvSpPr/>
            <p:nvPr/>
          </p:nvSpPr>
          <p:spPr>
            <a:xfrm>
              <a:off x="457200" y="1847088"/>
              <a:ext cx="8229600" cy="67665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7DE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Shape 7"/>
            <p:cNvSpPr/>
            <p:nvPr/>
          </p:nvSpPr>
          <p:spPr>
            <a:xfrm>
              <a:off x="457200" y="1847088"/>
              <a:ext cx="109728" cy="676656"/>
            </a:xfrm>
            <a:prstGeom prst="rect">
              <a:avLst/>
            </a:prstGeom>
            <a:solidFill>
              <a:srgbClr val="D2A8FF"/>
            </a:solidFill>
            <a:ln w="12700">
              <a:solidFill>
                <a:srgbClr val="D2A8FF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 8"/>
            <p:cNvSpPr/>
            <p:nvPr/>
          </p:nvSpPr>
          <p:spPr>
            <a:xfrm>
              <a:off x="685800" y="192024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D2A8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develop</a:t>
              </a:r>
              <a:endParaRPr lang="en-US" sz="13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685800" y="2194560"/>
              <a:ext cx="77724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57606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Rama de integración. Aquí se juntan las features terminadas.</a:t>
              </a:r>
              <a:endParaRPr lang="en-US" sz="1100" dirty="0"/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B0F704EE-FE59-CB78-AFBA-A67F31C0694E}"/>
              </a:ext>
            </a:extLst>
          </p:cNvPr>
          <p:cNvGrpSpPr/>
          <p:nvPr/>
        </p:nvGrpSpPr>
        <p:grpSpPr>
          <a:xfrm>
            <a:off x="457200" y="2567016"/>
            <a:ext cx="8229600" cy="676656"/>
            <a:chOff x="457200" y="2642616"/>
            <a:chExt cx="8229600" cy="676656"/>
          </a:xfrm>
        </p:grpSpPr>
        <p:sp>
          <p:nvSpPr>
            <p:cNvPr id="12" name="Shape 10"/>
            <p:cNvSpPr/>
            <p:nvPr/>
          </p:nvSpPr>
          <p:spPr>
            <a:xfrm>
              <a:off x="457200" y="2642616"/>
              <a:ext cx="8229600" cy="67665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7DE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Shape 11"/>
            <p:cNvSpPr/>
            <p:nvPr/>
          </p:nvSpPr>
          <p:spPr>
            <a:xfrm>
              <a:off x="457200" y="2642616"/>
              <a:ext cx="109728" cy="676656"/>
            </a:xfrm>
            <a:prstGeom prst="rect">
              <a:avLst/>
            </a:prstGeom>
            <a:solidFill>
              <a:srgbClr val="56D364"/>
            </a:solidFill>
            <a:ln w="12700">
              <a:solidFill>
                <a:srgbClr val="56D364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Text 12"/>
            <p:cNvSpPr/>
            <p:nvPr/>
          </p:nvSpPr>
          <p:spPr>
            <a:xfrm>
              <a:off x="685800" y="271576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56D364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feature/*</a:t>
              </a:r>
              <a:endParaRPr lang="en-US" sz="13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685800" y="2990088"/>
              <a:ext cx="77724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57606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Una rama por funcionalidad. Sale de develop, vuelve a develop.</a:t>
              </a:r>
              <a:endParaRPr lang="en-US" sz="1100" dirty="0"/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AE3497D1-6434-3597-6F64-8BB4AF2BD101}"/>
              </a:ext>
            </a:extLst>
          </p:cNvPr>
          <p:cNvGrpSpPr/>
          <p:nvPr/>
        </p:nvGrpSpPr>
        <p:grpSpPr>
          <a:xfrm>
            <a:off x="457200" y="3315744"/>
            <a:ext cx="8229600" cy="676656"/>
            <a:chOff x="457200" y="3438144"/>
            <a:chExt cx="8229600" cy="676656"/>
          </a:xfrm>
        </p:grpSpPr>
        <p:sp>
          <p:nvSpPr>
            <p:cNvPr id="16" name="Shape 14"/>
            <p:cNvSpPr/>
            <p:nvPr/>
          </p:nvSpPr>
          <p:spPr>
            <a:xfrm>
              <a:off x="457200" y="3438144"/>
              <a:ext cx="8229600" cy="67665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7DE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Shape 15"/>
            <p:cNvSpPr/>
            <p:nvPr/>
          </p:nvSpPr>
          <p:spPr>
            <a:xfrm>
              <a:off x="457200" y="3438144"/>
              <a:ext cx="109728" cy="676656"/>
            </a:xfrm>
            <a:prstGeom prst="rect">
              <a:avLst/>
            </a:prstGeom>
            <a:solidFill>
              <a:srgbClr val="E3B341"/>
            </a:solidFill>
            <a:ln w="12700">
              <a:solidFill>
                <a:srgbClr val="E3B341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8" name="Text 16"/>
            <p:cNvSpPr/>
            <p:nvPr/>
          </p:nvSpPr>
          <p:spPr>
            <a:xfrm>
              <a:off x="685800" y="3511296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E3B34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release/*</a:t>
              </a:r>
              <a:endParaRPr lang="en-US" sz="13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685800" y="3785616"/>
              <a:ext cx="77724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57606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Últimos ajustes antes de producción. Merge a main y develop.</a:t>
              </a:r>
              <a:endParaRPr lang="en-US" sz="1100" dirty="0"/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E97EFB7B-A183-C57D-14CD-5F58C72A3DF1}"/>
              </a:ext>
            </a:extLst>
          </p:cNvPr>
          <p:cNvGrpSpPr/>
          <p:nvPr/>
        </p:nvGrpSpPr>
        <p:grpSpPr>
          <a:xfrm>
            <a:off x="457200" y="4060872"/>
            <a:ext cx="8229600" cy="676656"/>
            <a:chOff x="457200" y="4233672"/>
            <a:chExt cx="8229600" cy="676656"/>
          </a:xfrm>
        </p:grpSpPr>
        <p:sp>
          <p:nvSpPr>
            <p:cNvPr id="20" name="Shape 18"/>
            <p:cNvSpPr/>
            <p:nvPr/>
          </p:nvSpPr>
          <p:spPr>
            <a:xfrm>
              <a:off x="457200" y="4233672"/>
              <a:ext cx="8229600" cy="67665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7DE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Shape 19"/>
            <p:cNvSpPr/>
            <p:nvPr/>
          </p:nvSpPr>
          <p:spPr>
            <a:xfrm>
              <a:off x="457200" y="4233672"/>
              <a:ext cx="109728" cy="676656"/>
            </a:xfrm>
            <a:prstGeom prst="rect">
              <a:avLst/>
            </a:prstGeom>
            <a:solidFill>
              <a:srgbClr val="F78166"/>
            </a:solidFill>
            <a:ln w="12700">
              <a:solidFill>
                <a:srgbClr val="F78166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Text 20"/>
            <p:cNvSpPr/>
            <p:nvPr/>
          </p:nvSpPr>
          <p:spPr>
            <a:xfrm>
              <a:off x="685800" y="4306824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F7816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hotfix/*</a:t>
              </a:r>
              <a:endParaRPr lang="en-US" sz="13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685800" y="4581144"/>
              <a:ext cx="77724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57606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Arreglos urgentes en producción. Sale de main.</a:t>
              </a:r>
              <a:endParaRPr lang="en-US" sz="1100" dirty="0"/>
            </a:p>
          </p:txBody>
        </p:sp>
      </p:grpSp>
      <p:sp>
        <p:nvSpPr>
          <p:cNvPr id="24" name="Text 22"/>
          <p:cNvSpPr/>
          <p:nvPr/>
        </p:nvSpPr>
        <p:spPr>
          <a:xfrm>
            <a:off x="457200" y="483840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para: apps móviles · librerías · software empaquetado · ciclos de QA formales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Regla clave: main siempre está lista para deploy en producción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55648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475488" cy="658368"/>
          </a:xfrm>
          <a:prstGeom prst="rect">
            <a:avLst/>
          </a:prstGeom>
          <a:solidFill>
            <a:srgbClr val="79C0FF">
              <a:alpha val="20000"/>
            </a:srgbClr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81051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una rama con nombre descriptivo desde main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10312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feature/agregar-buscador · fix/corregir-paginacion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32888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457200" y="2532888"/>
            <a:ext cx="475488" cy="658368"/>
          </a:xfrm>
          <a:prstGeom prst="rect">
            <a:avLst/>
          </a:prstGeom>
          <a:solidFill>
            <a:srgbClr val="79C0FF">
              <a:alpha val="20000"/>
            </a:srgbClr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457200" y="253288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258775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Commitea con frecuencia y sube a GitHub (push)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88036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Sirve de respaldo y permite feedback temprano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310128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457200" y="3310128"/>
            <a:ext cx="475488" cy="658368"/>
          </a:xfrm>
          <a:prstGeom prst="rect">
            <a:avLst/>
          </a:prstGeom>
          <a:solidFill>
            <a:srgbClr val="79C0FF">
              <a:alpha val="20000"/>
            </a:srgbClr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457200" y="331012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336499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un Pull Request cuando la feature está lista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365760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equipo revisa, comenta y aprueba el código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087368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457200" y="4087368"/>
            <a:ext cx="475488" cy="658368"/>
          </a:xfrm>
          <a:prstGeom prst="rect">
            <a:avLst/>
          </a:prstGeom>
          <a:solidFill>
            <a:srgbClr val="79C0FF">
              <a:alpha val="20000"/>
            </a:srgbClr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457200" y="408736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51560" y="414223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a main → deploy automático (CI/CD)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443484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siempre refleja lo que está en producción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8920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para: SaaS · APIs · apps web · equipos pequeños que hacen deploy continuo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Trunk-Based Development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6D3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Todos commitean directo a main (trunk), con commits pequeños y muy frecuentes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433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594360" y="2651760"/>
            <a:ext cx="214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 Flags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017520"/>
            <a:ext cx="2141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llega a producción 'apagado'. Se activa cuando está listo, sin hacer merge de ramas gigantes.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55848" y="1920240"/>
            <a:ext cx="2433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3493008" y="2651760"/>
            <a:ext cx="2155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 automatizados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93008" y="3017520"/>
            <a:ext cx="21553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buena cobertura de tests esto no funciona. Los tests son el escudo de seguridad del equipo.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54496" y="1920240"/>
            <a:ext cx="2432304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6391656" y="2651760"/>
            <a:ext cx="2157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CI/CD obligatorio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91656" y="3017520"/>
            <a:ext cx="21871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push activa una pipeline. Si algo falla, el equipo lo sabe al instante y puede revertir.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en Google, Meta, Amazon · No recomendado para equipos nuevos o sin tests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Comparación de estrategias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475488" y="914400"/>
            <a:ext cx="228600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475488" y="914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Criterio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61488" y="914400"/>
            <a:ext cx="1975104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2761488" y="914400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Flow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36592" y="914400"/>
            <a:ext cx="1975104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4736592" y="914400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Flow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11696" y="914400"/>
            <a:ext cx="1975104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6711696" y="914400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Trunk-Based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" y="1298448"/>
            <a:ext cx="22860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548640" y="1298448"/>
            <a:ext cx="2139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Complejidad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61488" y="1298448"/>
            <a:ext cx="1975104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2834640" y="129844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(5 ramas)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36592" y="1298448"/>
            <a:ext cx="1975104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4809744" y="129844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(2 ramas)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11696" y="1298448"/>
            <a:ext cx="1975104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6784848" y="129844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Mínima (1 rama)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" y="1874520"/>
            <a:ext cx="2286000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548640" y="1874520"/>
            <a:ext cx="2139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Velocidad de entrega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61488" y="1874520"/>
            <a:ext cx="1975104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2834640" y="1874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36592" y="1874520"/>
            <a:ext cx="1975104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4809744" y="1874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11696" y="1874520"/>
            <a:ext cx="1975104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6784848" y="1874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alta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" y="2450592"/>
            <a:ext cx="22860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548640" y="2450592"/>
            <a:ext cx="2139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Versiones múltiples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61488" y="2450592"/>
            <a:ext cx="1975104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2834640" y="24505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Soporta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36592" y="2450592"/>
            <a:ext cx="1975104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4809744" y="24505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ideal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11696" y="2450592"/>
            <a:ext cx="1975104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6784848" y="24505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ideal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" y="3026664"/>
            <a:ext cx="2286000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548640" y="3026664"/>
            <a:ext cx="2139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Requiere CI/CD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61488" y="3026664"/>
            <a:ext cx="1975104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7"/>
          <p:cNvSpPr/>
          <p:nvPr/>
        </p:nvSpPr>
        <p:spPr>
          <a:xfrm>
            <a:off x="2834640" y="302666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36592" y="3026664"/>
            <a:ext cx="1975104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1" name="Text 39"/>
          <p:cNvSpPr/>
          <p:nvPr/>
        </p:nvSpPr>
        <p:spPr>
          <a:xfrm>
            <a:off x="4809744" y="302666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711696" y="3026664"/>
            <a:ext cx="1975104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 41"/>
          <p:cNvSpPr/>
          <p:nvPr/>
        </p:nvSpPr>
        <p:spPr>
          <a:xfrm>
            <a:off x="6784848" y="302666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Obligatorio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5488" y="3602736"/>
            <a:ext cx="22860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5" name="Text 43"/>
          <p:cNvSpPr/>
          <p:nvPr/>
        </p:nvSpPr>
        <p:spPr>
          <a:xfrm>
            <a:off x="548640" y="3602736"/>
            <a:ext cx="2139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Requiere tests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61488" y="3602736"/>
            <a:ext cx="1975104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7" name="Text 45"/>
          <p:cNvSpPr/>
          <p:nvPr/>
        </p:nvSpPr>
        <p:spPr>
          <a:xfrm>
            <a:off x="2834640" y="360273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736592" y="3602736"/>
            <a:ext cx="1975104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9" name="Text 47"/>
          <p:cNvSpPr/>
          <p:nvPr/>
        </p:nvSpPr>
        <p:spPr>
          <a:xfrm>
            <a:off x="4809744" y="360273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711696" y="3602736"/>
            <a:ext cx="1975104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1" name="Text 49"/>
          <p:cNvSpPr/>
          <p:nvPr/>
        </p:nvSpPr>
        <p:spPr>
          <a:xfrm>
            <a:off x="6784848" y="360273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Obligatorio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75488" y="4178808"/>
            <a:ext cx="2286000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3" name="Text 51"/>
          <p:cNvSpPr/>
          <p:nvPr/>
        </p:nvSpPr>
        <p:spPr>
          <a:xfrm>
            <a:off x="548640" y="4178808"/>
            <a:ext cx="2139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Popularidad actual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761488" y="4178808"/>
            <a:ext cx="1975104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5" name="Text 53"/>
          <p:cNvSpPr/>
          <p:nvPr/>
        </p:nvSpPr>
        <p:spPr>
          <a:xfrm>
            <a:off x="2834640" y="417880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Decayendo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736592" y="4178808"/>
            <a:ext cx="1975104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7" name="Text 55"/>
          <p:cNvSpPr/>
          <p:nvPr/>
        </p:nvSpPr>
        <p:spPr>
          <a:xfrm>
            <a:off x="4809744" y="417880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popular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711696" y="4178808"/>
            <a:ext cx="1975104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9" name="Text 57"/>
          <p:cNvSpPr/>
          <p:nvPr/>
        </p:nvSpPr>
        <p:spPr>
          <a:xfrm>
            <a:off x="6784848" y="417880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aumento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¿Cuál estrategia elegir?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¿Múltiples versiones en producción al mismo tiempo?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89320" y="11430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Sí →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675120" y="114300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D2A8FF">
              <a:alpha val="20000"/>
            </a:srgbClr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6675120" y="1143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Flow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32768"/>
            <a:ext cx="8229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640080" y="202420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¿QA formal o ciclos de release largos (mensuales)?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89320" y="202420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Sí 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75120" y="2024208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D2A8FF">
              <a:alpha val="20000"/>
            </a:srgbClr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6675120" y="20386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Flow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17576"/>
            <a:ext cx="8229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640080" y="290901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¿CI/CD maduro y buena cobertura de tests?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89320" y="290901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Sí →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75120" y="2909016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56D364">
              <a:alpha val="20000"/>
            </a:srgbClr>
          </a:solidFill>
          <a:ln w="12700">
            <a:solidFill>
              <a:srgbClr val="56D36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6675120" y="29198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Trunk-Based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09584"/>
            <a:ext cx="8229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640080" y="380102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¿Equipo nuevo o proyecto sin tests automatizados?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89320" y="380102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Sí →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75120" y="3801024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79C0FF">
              <a:alpha val="20000"/>
            </a:srgbClr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6675120" y="38046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Flow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640080" y="468172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Para proyectos de curso: </a:t>
            </a:r>
            <a:r>
              <a:rPr lang="en-US" sz="11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Flow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simple, incentiva los Pull Requests y refleja el flujo real de la industria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Cheatsheet de comandos Git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58367"/>
            <a:ext cx="8412480" cy="45719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645920" cy="292608"/>
          </a:xfrm>
          <a:prstGeom prst="rect">
            <a:avLst/>
          </a:prstGeom>
          <a:solidFill>
            <a:srgbClr val="E3B341">
              <a:alpha val="25000"/>
            </a:srgbClr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33856"/>
            <a:ext cx="164592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530352" y="1179576"/>
            <a:ext cx="14996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975104"/>
            <a:ext cx="164592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530352" y="2020824"/>
            <a:ext cx="14996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&lt;url&gt;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816352"/>
            <a:ext cx="164592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530352" y="2862072"/>
            <a:ext cx="14996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&lt;url&gt;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48840" y="804672"/>
            <a:ext cx="1645920" cy="292608"/>
          </a:xfrm>
          <a:prstGeom prst="rect">
            <a:avLst/>
          </a:prstGeom>
          <a:solidFill>
            <a:srgbClr val="56D364">
              <a:alpha val="25000"/>
            </a:srgbClr>
          </a:solidFill>
          <a:ln w="12700">
            <a:solidFill>
              <a:srgbClr val="56D36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2148840" y="8046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48840" y="1133856"/>
            <a:ext cx="164592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2221992" y="1179576"/>
            <a:ext cx="14996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48840" y="1975104"/>
            <a:ext cx="164592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2221992" y="2020824"/>
            <a:ext cx="14996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48840" y="2816352"/>
            <a:ext cx="164592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2221992" y="2862072"/>
            <a:ext cx="14996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"msg"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48840" y="3657600"/>
            <a:ext cx="164592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2221992" y="3703320"/>
            <a:ext cx="14996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40480" y="804672"/>
            <a:ext cx="1645920" cy="292608"/>
          </a:xfrm>
          <a:prstGeom prst="rect">
            <a:avLst/>
          </a:prstGeom>
          <a:solidFill>
            <a:srgbClr val="79C0FF">
              <a:alpha val="25000"/>
            </a:srgbClr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3840480" y="8046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RAMAS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840480" y="1133856"/>
            <a:ext cx="164592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3913632" y="1179576"/>
            <a:ext cx="14996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-c nombre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40480" y="1975104"/>
            <a:ext cx="164592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3913632" y="2020824"/>
            <a:ext cx="14996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nombre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840480" y="2816352"/>
            <a:ext cx="164592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3913632" y="2862072"/>
            <a:ext cx="14996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-d nombre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32120" y="804672"/>
            <a:ext cx="1645920" cy="292608"/>
          </a:xfrm>
          <a:prstGeom prst="rect">
            <a:avLst/>
          </a:prstGeom>
          <a:solidFill>
            <a:srgbClr val="D2A8FF">
              <a:alpha val="25000"/>
            </a:srgbClr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5532120" y="8046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532120" y="1133856"/>
            <a:ext cx="164592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5605272" y="1179576"/>
            <a:ext cx="14996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main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32120" y="1975104"/>
            <a:ext cx="164592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5605272" y="2020824"/>
            <a:ext cx="14996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origin main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532120" y="2816352"/>
            <a:ext cx="164592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5605272" y="2862072"/>
            <a:ext cx="14996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fetch --all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223760" y="804672"/>
            <a:ext cx="1645920" cy="292608"/>
          </a:xfrm>
          <a:prstGeom prst="rect">
            <a:avLst/>
          </a:prstGeom>
          <a:solidFill>
            <a:srgbClr val="F78166">
              <a:alpha val="25000"/>
            </a:srgbClr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7"/>
          <p:cNvSpPr/>
          <p:nvPr/>
        </p:nvSpPr>
        <p:spPr>
          <a:xfrm>
            <a:off x="7223760" y="8046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DESHACER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223760" y="1133856"/>
            <a:ext cx="164592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1" name="Text 39"/>
          <p:cNvSpPr/>
          <p:nvPr/>
        </p:nvSpPr>
        <p:spPr>
          <a:xfrm>
            <a:off x="7296912" y="1179576"/>
            <a:ext cx="14996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restore &lt;archivo&gt;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223760" y="1975104"/>
            <a:ext cx="164592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3" name="Text 41"/>
          <p:cNvSpPr/>
          <p:nvPr/>
        </p:nvSpPr>
        <p:spPr>
          <a:xfrm>
            <a:off x="7296912" y="2020824"/>
            <a:ext cx="14996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reset --soft HEAD~1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223760" y="2816352"/>
            <a:ext cx="164592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5" name="Text 43"/>
          <p:cNvSpPr/>
          <p:nvPr/>
        </p:nvSpPr>
        <p:spPr>
          <a:xfrm>
            <a:off x="7296912" y="2862072"/>
            <a:ext cx="14996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stash / git stash pop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¿Dudas?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para seguir aprendiendo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8046720" cy="60350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09728" cy="603504"/>
          </a:xfrm>
          <a:prstGeom prst="rect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886968" y="19842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Conventional Commits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6968" y="2240280"/>
            <a:ext cx="6675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conventionalcommits.org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670048"/>
            <a:ext cx="8046720" cy="60350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640080" y="2670048"/>
            <a:ext cx="109728" cy="603504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886968" y="273405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Gitmoji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86968" y="2990088"/>
            <a:ext cx="6675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gitmoji.dev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8046720" cy="60350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640080" y="3419856"/>
            <a:ext cx="109728" cy="603504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886968" y="348386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Documentación Git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86968" y="3739896"/>
            <a:ext cx="6675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git-scm.com/doc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169664"/>
            <a:ext cx="8046720" cy="60350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640080" y="4169664"/>
            <a:ext cx="109728" cy="603504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886968" y="42336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hello-git (mouredev)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86968" y="4489704"/>
            <a:ext cx="6675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github.com/mouredev/hello-git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1064</Words>
  <Application>Microsoft Office PowerPoint</Application>
  <PresentationFormat>Presentación en pantalla (16:9)</PresentationFormat>
  <Paragraphs>249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&amp; GitHub desde cero</dc:title>
  <dc:subject>PptxGenJS Presentation</dc:subject>
  <dc:creator>DUOC UC</dc:creator>
  <cp:lastModifiedBy>José Miguel Candia Hernández</cp:lastModifiedBy>
  <cp:revision>10</cp:revision>
  <dcterms:created xsi:type="dcterms:W3CDTF">2026-06-03T14:45:46Z</dcterms:created>
  <dcterms:modified xsi:type="dcterms:W3CDTF">2026-06-03T15:12:54Z</dcterms:modified>
</cp:coreProperties>
</file>